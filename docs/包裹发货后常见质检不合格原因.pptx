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0"/>
            <a:ext cx="4754880" cy="164592"/>
          </a:xfrm>
          <a:prstGeom prst="rect">
            <a:avLst/>
          </a:prstGeom>
          <a:solidFill>
            <a:srgbClr val="E8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47B2A"/>
                </a:solidFill>
                <a:latin typeface="微软雅黑"/>
              </a:rPr>
              <a:t>质检指南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114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包裹发货后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</a:rPr>
              <a:t>常出现的质检
不合格原因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1E6"/>
                </a:solidFill>
                <a:latin typeface="Arial"/>
              </a:rPr>
              <a:t>Quality Inspection · Failure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9456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47B2A"/>
                </a:solidFill>
                <a:latin typeface="微软雅黑"/>
              </a:rPr>
              <a:t>7  类  常  见  问  题  全  解  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2880360"/>
            <a:ext cx="640080" cy="54864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310896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微软雅黑"/>
              </a:rPr>
              <a:t>图物不符 · 翻译错误 · 色差 · 克重
标题修改 · 洗水唛 · 申诉流程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8521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面向 TEMU 跨境电商商家的实操手册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目  录  &amp;  问  题  全  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本手册将围绕以下 7 类质检不合格场景，逐一拆解原因与应对方案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801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19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图物不符（下装）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121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裤装口袋、纽扣、拉链等细节差异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944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862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图物不符（上装）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264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领口条纹、内衬颜色等差异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087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05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质检台翻译问题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407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标题被错误翻译，引发误判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83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" y="5230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148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色差问题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5550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灯光偏暗导致的颜色判定偏差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554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37960" y="1801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1719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克重问题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121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实物与样品留底克重不一致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697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697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37960" y="2944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862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标题修改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3264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JIT/定制单与普通备货单处理差异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54864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840480"/>
            <a:ext cx="109728" cy="1051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37960" y="4087368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400507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微软雅黑"/>
              </a:rPr>
              <a:t>洗水唛问题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440740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成分、八国语言、二维码等合规要点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01.  图物不符 · 下装类（裤装）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实际商品与主图/轮播图存在差异，是质检不合格最常见的原因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原  因  与  关  键  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裤子口袋背面的设计差异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实物口袋形状/缝线与主图不符，需核对每一处细节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裤子口袋纽扣颗数不一致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纽扣数量是高频差异点，需逐一比对主图与样衣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96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裤子拉链处颜色/设计差异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轮播图与抽检实物的拉链颜色明显不同，必须更新主图后才能允收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514"/>
                </a:solidFill>
                <a:latin typeface="微软雅黑"/>
              </a:rPr>
              <a:t>💡  主图更新成功后，质检方可允收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实  物  对  比  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671" y="2155546"/>
            <a:ext cx="4366058" cy="1205788"/>
          </a:xfrm>
          <a:prstGeom prst="rect">
            <a:avLst/>
          </a:prstGeom>
        </p:spPr>
      </p:pic>
      <p:pic>
        <p:nvPicPr>
          <p:cNvPr id="24" name="Picture 2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012" y="3603346"/>
            <a:ext cx="2755376" cy="1205788"/>
          </a:xfrm>
          <a:prstGeom prst="rect">
            <a:avLst/>
          </a:prstGeom>
        </p:spPr>
      </p:pic>
      <p:pic>
        <p:nvPicPr>
          <p:cNvPr id="25" name="Picture 24" descr="image3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427" y="5051146"/>
            <a:ext cx="1606546" cy="1205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02.  图物不符 · 上装类（POLO/T恤/外套）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领口、内衬等细节同样是高频差异点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原  因  与  关  键  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领口条纹色条存在差异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POLO/T 恤类商品，领口印花条颜色与轮播图不一致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外套内衬颜色存在差异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实物外套内衬为灰色，但主图显示为黑色，需立即更新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514"/>
                </a:solidFill>
                <a:latin typeface="微软雅黑"/>
              </a:rPr>
              <a:t>💡  积极、细致地调整主图与轮播图，做到「图物一致」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实  物  对  比  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8421" y="2184502"/>
            <a:ext cx="3242557" cy="1871776"/>
          </a:xfrm>
          <a:prstGeom prst="rect">
            <a:avLst/>
          </a:prstGeom>
        </p:spPr>
      </p:pic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4571525"/>
            <a:ext cx="4668926" cy="14411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03.  质检台翻译问题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标题被翻译错误，导致质检判定与实物不符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原  因  与  关  键  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典型场景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质检不合格原因写「标题为两件套，实物是一条短裤」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商家自查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在标题中确认是否真的出现了「两件套」描述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96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处理方式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若标题中并无「两件套」字样 → 属翻译错误，及时找买手发起申诉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514"/>
                </a:solidFill>
                <a:latin typeface="微软雅黑"/>
              </a:rPr>
              <a:t>💡  确认非自身错误后立即通知买手发起申诉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质  检  截  图  &amp;  自  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82" y="2184502"/>
            <a:ext cx="2699035" cy="1871776"/>
          </a:xfrm>
          <a:prstGeom prst="rect">
            <a:avLst/>
          </a:prstGeom>
        </p:spPr>
      </p:pic>
      <p:pic>
        <p:nvPicPr>
          <p:cNvPr id="24" name="Picture 23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237" y="4839134"/>
            <a:ext cx="4668926" cy="9059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04.  色差问题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质检场地灯光偏暗等原因，可能导致色差判定不予允收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原  因  与  关  键  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可能成因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质检场地灯光偏暗 / 角度偏差 → 误判为色差较大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商家应对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提供自然光线下拍摄的图片或视频佐证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96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举证标准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证明商品实物颜色与轮播图、系统申报颜色一致或相近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514"/>
                </a:solidFill>
                <a:latin typeface="微软雅黑"/>
              </a:rPr>
              <a:t>💡  自然光下的清晰对比图/视频是最有力的申诉证据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质  检  图  vs  佐  证  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4158" y="2155546"/>
            <a:ext cx="2651083" cy="1205788"/>
          </a:xfrm>
          <a:prstGeom prst="rect">
            <a:avLst/>
          </a:prstGeom>
        </p:spPr>
      </p:pic>
      <p:pic>
        <p:nvPicPr>
          <p:cNvPr id="24" name="Picture 23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6696" y="3603346"/>
            <a:ext cx="906007" cy="1205788"/>
          </a:xfrm>
          <a:prstGeom prst="rect">
            <a:avLst/>
          </a:prstGeom>
        </p:spPr>
      </p:pic>
      <p:pic>
        <p:nvPicPr>
          <p:cNvPr id="25" name="Picture 24" descr="image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186" y="5051146"/>
            <a:ext cx="901028" cy="12057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05.  克重问题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实物克重与样品留底不一致，可能未达最低允收标准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原  因  与  关  键  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7627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问题表现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4203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抽样质检发现实物重量与留底样品克重不一致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5468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36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风险临界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0215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实物比样品轻太多 → 可能不到最低允收标准而被驳回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096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商家应对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6227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提供自己样品的克重图发给买手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5663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微软雅黑"/>
              </a:rPr>
              <a:t>申诉路径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422392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买手据此计算是否符合最低允收标准 → 符合即可申诉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669280"/>
            <a:ext cx="512064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E86514"/>
                </a:solidFill>
                <a:latin typeface="微软雅黑"/>
              </a:rPr>
              <a:t>💡  保留每批次样品克重照片，是规避此风险的关键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样  品  克  重  实  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237" y="2294071"/>
            <a:ext cx="4668926" cy="1652637"/>
          </a:xfrm>
          <a:prstGeom prst="rect">
            <a:avLst/>
          </a:prstGeom>
        </p:spPr>
      </p:pic>
      <p:pic>
        <p:nvPicPr>
          <p:cNvPr id="27" name="Picture 26" descr="image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635" y="4356202"/>
            <a:ext cx="1402130" cy="18717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06.  关  于  标  题  修  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JIT / 定制 / 加急 单不接受抽检不合格后再修改返单信息，需区分情况处理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11384280" cy="64008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109728" cy="6400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E86514"/>
                </a:solidFill>
                <a:latin typeface="微软雅黑"/>
              </a:rPr>
              <a:t>⚠  JIT / 定制单 / 加急：抽检不合格后不接受返单信息修改 → 立即下架商品 + 申请缺货 + 信息更正后再上架，是降低货损的最佳方式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3317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情  况  ①  商家自定义标题错误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34640"/>
            <a:ext cx="5669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微软雅黑"/>
              </a:rPr>
              <a:t>商家自己定义错了标题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730752"/>
            <a:ext cx="164592" cy="164592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5760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发起方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5020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商家自行更改货品标题；英文标题需要找买手处理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43984"/>
            <a:ext cx="164592" cy="164592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08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普通备货单 · 首单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可以尝试发起申诉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157216"/>
            <a:ext cx="164592" cy="164592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08406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普通备货单 · 非首单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766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需在所有信息更新后再发起返单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870448"/>
            <a:ext cx="164592" cy="164592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79729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JIT / 定制 / 加急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608990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立即申请缺货 → 减少货损（质检端信息已固化）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3317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情  况  ②  图灵翻译出错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834640"/>
            <a:ext cx="553212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1089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2B2B2B"/>
                </a:solidFill>
                <a:latin typeface="微软雅黑"/>
              </a:rPr>
              <a:t>商家自定义标题正确，翻译后出现错误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730752"/>
            <a:ext cx="164592" cy="164592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365760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处理方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950208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找买手 + 相关负责人员，发起对外语标题的更改申请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4443984"/>
            <a:ext cx="164592" cy="164592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03720" y="437083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适用范围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6634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所有标题翻译错误的情况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0" y="5157216"/>
            <a:ext cx="164592" cy="164592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03720" y="508406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注意事项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20" y="5376672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保留对照截图（中文 vs 翻译后），便于审核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29400" y="5870448"/>
            <a:ext cx="164592" cy="164592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03720" y="579729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B2B2B"/>
                </a:solidFill>
                <a:latin typeface="微软雅黑"/>
              </a:rPr>
              <a:t>时效要求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6089904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微软雅黑"/>
              </a:rPr>
              <a:t>尽快发起，避免下一批继续因翻译问题失败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07.  洗  水  唛  问  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成分申报、八国语言、欧盟进口商电子地址、二维码等多维合规检查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669280" cy="50292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成  分  &amp;  语  言  &amp;  车  缝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66928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417320"/>
            <a:ext cx="5532120" cy="502920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074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</a:rPr>
              <a:t>合  规  &amp;  二  维  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920240"/>
            <a:ext cx="5532120" cy="4617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286000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2860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</a:rPr>
              <a:t>成分不一致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74320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水洗唛上的成分与后台申报的成分不一致 → 核对一致后截图发买手申诉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70332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</a:rPr>
              <a:t>缺少八国语言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16052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未车缝八国语言洗水唛 → 核对洗水唛是否包含八国语言，尽早发买手申诉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5120640"/>
            <a:ext cx="548640" cy="5486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120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</a:rPr>
              <a:t>套装未车缝洗水唛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5577840"/>
            <a:ext cx="4297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上装与裤装均需车缝洗水唛 → 若两件都已车缝，找买手申诉</a:t>
            </a:r>
          </a:p>
        </p:txBody>
      </p:sp>
      <p:sp>
        <p:nvSpPr>
          <p:cNvPr id="21" name="Oval 20"/>
          <p:cNvSpPr/>
          <p:nvPr/>
        </p:nvSpPr>
        <p:spPr>
          <a:xfrm>
            <a:off x="6629400" y="2286000"/>
            <a:ext cx="548640" cy="548640"/>
          </a:xfrm>
          <a:prstGeom prst="ellipse">
            <a:avLst/>
          </a:prstGeom>
          <a:solidFill>
            <a:srgbClr val="E83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28600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</a:rPr>
              <a:t>缺欧盟进口商电子地址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74320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核对是否有 EU Importer Electronic Address 字样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3703320"/>
            <a:ext cx="548640" cy="548640"/>
          </a:xfrm>
          <a:prstGeom prst="ellipse">
            <a:avLst/>
          </a:prstGeom>
          <a:solidFill>
            <a:srgbClr val="E835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0332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</a:rPr>
              <a:t>二维码扫码异常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160520"/>
            <a:ext cx="4160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扫描洗水唛上的二维码，确认是否存在质检提到的问题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通  用  应  对  策  略  &amp;  申  诉  流  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微软雅黑"/>
              </a:rPr>
              <a:t>面对任何一类质检不合格，均可遵循以下闭环流程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145731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145731" cy="1828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1445" y="1965960"/>
            <a:ext cx="777240" cy="7772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9628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B2B2B"/>
                </a:solidFill>
                <a:latin typeface="微软雅黑"/>
              </a:rPr>
              <a:t>识别原因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10128"/>
            <a:ext cx="18714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</a:rPr>
              <a:t>对照质检台反馈，定位属于 7 类问题中的哪一种</a:t>
            </a:r>
          </a:p>
        </p:txBody>
      </p:sp>
      <p:sp>
        <p:nvSpPr>
          <p:cNvPr id="11" name="Right Triangle 10"/>
          <p:cNvSpPr/>
          <p:nvPr/>
        </p:nvSpPr>
        <p:spPr>
          <a:xfrm rot="1800000">
            <a:off x="2607503" y="2651760"/>
            <a:ext cx="128016" cy="182880"/>
          </a:xfrm>
          <a:prstGeom prst="rtTriangl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0091" y="1554480"/>
            <a:ext cx="2145731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0091" y="1554480"/>
            <a:ext cx="2145731" cy="1828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4336" y="1965960"/>
            <a:ext cx="777240" cy="7772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1531" y="2880360"/>
            <a:ext cx="19628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B2B2B"/>
                </a:solidFill>
                <a:latin typeface="微软雅黑"/>
              </a:rPr>
              <a:t>自查核对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7251" y="3310128"/>
            <a:ext cx="18714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</a:rPr>
              <a:t>比对主图/轮播图/标题/洗水唛/克重等证据</a:t>
            </a:r>
          </a:p>
        </p:txBody>
      </p:sp>
      <p:sp>
        <p:nvSpPr>
          <p:cNvPr id="17" name="Right Triangle 16"/>
          <p:cNvSpPr/>
          <p:nvPr/>
        </p:nvSpPr>
        <p:spPr>
          <a:xfrm rot="1800000">
            <a:off x="4890394" y="2651760"/>
            <a:ext cx="128016" cy="182880"/>
          </a:xfrm>
          <a:prstGeom prst="rtTriangl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2982" y="1554480"/>
            <a:ext cx="2145731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2982" y="1554480"/>
            <a:ext cx="2145731" cy="1828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07227" y="1965960"/>
            <a:ext cx="777240" cy="7772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4422" y="2880360"/>
            <a:ext cx="19628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B2B2B"/>
                </a:solidFill>
                <a:latin typeface="微软雅黑"/>
              </a:rPr>
              <a:t>准备证据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0142" y="3310128"/>
            <a:ext cx="18714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</a:rPr>
              <a:t>自然光照片、克重图、对照截图、洗水唛特写</a:t>
            </a:r>
          </a:p>
        </p:txBody>
      </p:sp>
      <p:sp>
        <p:nvSpPr>
          <p:cNvPr id="23" name="Right Triangle 22"/>
          <p:cNvSpPr/>
          <p:nvPr/>
        </p:nvSpPr>
        <p:spPr>
          <a:xfrm rot="1800000">
            <a:off x="7173285" y="2651760"/>
            <a:ext cx="128016" cy="182880"/>
          </a:xfrm>
          <a:prstGeom prst="rtTriangl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05873" y="1554480"/>
            <a:ext cx="2145731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05873" y="1554480"/>
            <a:ext cx="2145731" cy="1828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0118" y="1965960"/>
            <a:ext cx="777240" cy="7772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313" y="2880360"/>
            <a:ext cx="19628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B2B2B"/>
                </a:solidFill>
                <a:latin typeface="微软雅黑"/>
              </a:rPr>
              <a:t>发起申诉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3033" y="3310128"/>
            <a:ext cx="18714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</a:rPr>
              <a:t>联系买手提交证据，区分首单/非首单/JIT 处理</a:t>
            </a:r>
          </a:p>
        </p:txBody>
      </p:sp>
      <p:sp>
        <p:nvSpPr>
          <p:cNvPr id="29" name="Right Triangle 28"/>
          <p:cNvSpPr/>
          <p:nvPr/>
        </p:nvSpPr>
        <p:spPr>
          <a:xfrm rot="1800000">
            <a:off x="9456176" y="2651760"/>
            <a:ext cx="128016" cy="182880"/>
          </a:xfrm>
          <a:prstGeom prst="rtTriangl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88764" y="1554480"/>
            <a:ext cx="2145731" cy="23774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88764" y="1554480"/>
            <a:ext cx="2145731" cy="18288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73009" y="1965960"/>
            <a:ext cx="777240" cy="777240"/>
          </a:xfrm>
          <a:prstGeom prst="ellipse">
            <a:avLst/>
          </a:prstGeom>
          <a:solidFill>
            <a:srgbClr val="F47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0204" y="2880360"/>
            <a:ext cx="196285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2B2B2B"/>
                </a:solidFill>
                <a:latin typeface="微软雅黑"/>
              </a:rPr>
              <a:t>源头改进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25924" y="3310128"/>
            <a:ext cx="1871411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595959"/>
                </a:solidFill>
                <a:latin typeface="微软雅黑"/>
              </a:rPr>
              <a:t>更新主图、修正标题翻译、规范洗水唛、补留克重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97680"/>
            <a:ext cx="11277295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297680"/>
            <a:ext cx="109728" cy="219456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47B2A"/>
                </a:solidFill>
                <a:latin typeface="微软雅黑"/>
              </a:rPr>
              <a:t>🔑  核心原则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010912"/>
            <a:ext cx="146304" cy="146304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4937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</a:rPr>
              <a:t>图物一致：主图/轮播图必须与实物完全一致，包括口袋、纽扣、拉链、领口、内衬等细节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" y="5394959"/>
            <a:ext cx="146304" cy="146304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5321807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</a:rPr>
              <a:t>证据先行：色差需自然光对照图，克重需样品留底实拍图，翻译错误需中外文对照截图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5779008"/>
            <a:ext cx="146304" cy="146304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570585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</a:rPr>
              <a:t>时效优先：JIT / 定制 / 加急 单立即申请缺货，不要尝试返单修改，避免货损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" y="6163056"/>
            <a:ext cx="146304" cy="146304"/>
          </a:xfrm>
          <a:prstGeom prst="rect">
            <a:avLst/>
          </a:prstGeom>
          <a:solidFill>
            <a:srgbClr val="E835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608990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2B2B2B"/>
                </a:solidFill>
                <a:latin typeface="微软雅黑"/>
              </a:rPr>
              <a:t>源头治理：每次申诉成功后，同步更新前端信息（主图、标题、洗水唛），杜绝再次发生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7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2044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微软雅黑"/>
              </a:rPr>
              <a:t>图  物  一  致  ·  证  据  完  备  ·  时  效  优  先  ·  源  头  治  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FFF1E6"/>
                </a:solidFill>
                <a:latin typeface="微软雅黑"/>
              </a:rPr>
              <a:t>—  让每一个包裹都顺利通过质检 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